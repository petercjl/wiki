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7" r:id="rId5"/>
    <p:sldId id="262" r:id="rId6"/>
    <p:sldId id="268" r:id="rId7"/>
    <p:sldId id="264" r:id="rId8"/>
    <p:sldId id="272" r:id="rId9"/>
    <p:sldId id="265" r:id="rId10"/>
    <p:sldId id="274" r:id="rId11"/>
    <p:sldId id="266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1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tags" Target="../tags/tag99.xml"/><Relationship Id="rId2" Type="http://schemas.openxmlformats.org/officeDocument/2006/relationships/tags" Target="../tags/tag81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9" Type="http://schemas.openxmlformats.org/officeDocument/2006/relationships/tags" Target="../tags/tag119.xml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6" Type="http://schemas.openxmlformats.org/officeDocument/2006/relationships/tags" Target="../tags/tag144.xml"/><Relationship Id="rId25" Type="http://schemas.openxmlformats.org/officeDocument/2006/relationships/tags" Target="../tags/tag143.xml"/><Relationship Id="rId24" Type="http://schemas.openxmlformats.org/officeDocument/2006/relationships/tags" Target="../tags/tag142.xml"/><Relationship Id="rId23" Type="http://schemas.openxmlformats.org/officeDocument/2006/relationships/tags" Target="../tags/tag141.xml"/><Relationship Id="rId22" Type="http://schemas.openxmlformats.org/officeDocument/2006/relationships/tags" Target="../tags/tag140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tags" Target="../tags/tag120.xml"/><Relationship Id="rId19" Type="http://schemas.openxmlformats.org/officeDocument/2006/relationships/tags" Target="../tags/tag137.xml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装饰  0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16256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18732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096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54864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57340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44704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9" name="装饰  8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93472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95948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3312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左标下左内右图-装饰左叠-默认位置-并列-6_77_group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内容占位符 30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装饰  1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3352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793750" y="3581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4521200"/>
            <a:ext cx="2857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029200"/>
            <a:ext cx="28575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6" name="装饰  5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4076700" y="3352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4260850" y="3581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076700" y="4521200"/>
            <a:ext cx="2857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4076700" y="5029200"/>
            <a:ext cx="28575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颜色错位-并列-2_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装饰  0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197600" y="15240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图片占位符 31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502400" y="1892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502400" y="2451100"/>
            <a:ext cx="4775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图片占位符 35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02400" y="44069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02400" y="4965700"/>
            <a:ext cx="4775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内容占位符 30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345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4" name="内容占位符 33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4165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4724400"/>
            <a:ext cx="345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7" name="内容占位符 36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4165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4724400"/>
            <a:ext cx="345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53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225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内容占位符 30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装饰  1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3505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6576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6576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8" name="装饰  7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4008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1" name="装饰  0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9296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94488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3" name="文本占位符 42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4488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67380ee6-af1a-11f0-a9cc-9ad744f4282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idx="10" hasCustomPrompt="1"/>
            <p:custDataLst>
              <p:tags r:id="rId3"/>
            </p:custDataLst>
          </p:nvPr>
        </p:nvSpPr>
        <p:spPr>
          <a:xfrm rot="8906">
            <a:off x="6014720" y="2365693"/>
            <a:ext cx="5059680" cy="977265"/>
          </a:xfrm>
        </p:spPr>
        <p:txBody>
          <a:bodyPr wrap="none" anchor="ctr" anchorCtr="0">
            <a:spAutoFit/>
          </a:bodyPr>
          <a:lstStyle>
            <a:lvl1pPr algn="r">
              <a:buNone/>
              <a:defRPr sz="6400">
                <a:solidFill>
                  <a:srgbClr val="F5F7F8"/>
                </a:solidFill>
                <a:ea typeface="MiSans SemiBold" charset="0"/>
              </a:defRPr>
            </a:lvl1pPr>
          </a:lstStyle>
          <a:p>
            <a:r>
              <a:rPr lang="zh-CN" altLang="en-US" smtClean="0"/>
              <a:t>天猫超市介绍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1" hasCustomPrompt="1"/>
            <p:custDataLst>
              <p:tags r:id="rId4"/>
            </p:custDataLst>
          </p:nvPr>
        </p:nvSpPr>
        <p:spPr>
          <a:xfrm>
            <a:off x="9431020" y="3867468"/>
            <a:ext cx="1668780" cy="361315"/>
          </a:xfrm>
        </p:spPr>
        <p:txBody>
          <a:bodyPr wrap="none" anchor="ctr" anchorCtr="0">
            <a:spAutoFit/>
          </a:bodyPr>
          <a:lstStyle>
            <a:lvl1pPr algn="r">
              <a:buNone/>
              <a:defRPr sz="1950">
                <a:solidFill>
                  <a:srgbClr val="F2F7F9"/>
                </a:solidFill>
                <a:ea typeface="华康雅艺体W6" panose="040B0609000000000000" charset="-122"/>
              </a:defRPr>
            </a:lvl1pPr>
          </a:lstStyle>
          <a:p>
            <a:pPr lvl="0"/>
            <a:r>
              <a:rPr lang="zh-CN" altLang="en-US" smtClean="0"/>
              <a:t>汇报人：姓名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2" hasCustomPrompt="1"/>
            <p:custDataLst>
              <p:tags r:id="rId5"/>
            </p:custDataLst>
          </p:nvPr>
        </p:nvSpPr>
        <p:spPr>
          <a:xfrm rot="33160">
            <a:off x="9237980" y="4239895"/>
            <a:ext cx="1842770" cy="346710"/>
          </a:xfrm>
        </p:spPr>
        <p:txBody>
          <a:bodyPr wrap="none" anchor="ctr" anchorCtr="0">
            <a:spAutoFit/>
          </a:bodyPr>
          <a:lstStyle>
            <a:lvl1pPr algn="r">
              <a:buNone/>
              <a:defRPr sz="1850">
                <a:solidFill>
                  <a:srgbClr val="F3F8FA"/>
                </a:solidFill>
                <a:ea typeface="华康雅艺体W6" panose="040B0609000000000000" charset="-122"/>
              </a:defRPr>
            </a:lvl1pPr>
          </a:lstStyle>
          <a:p>
            <a:pPr lvl="0"/>
            <a:r>
              <a:rPr lang="zh-CN" altLang="en-US" smtClean="0"/>
              <a:t>2025年10月22日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67381077-af1a-11f0-a9cc-9ad744f4282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 idx="10" hasCustomPrompt="1"/>
            <p:custDataLst>
              <p:tags r:id="rId3"/>
            </p:custDataLst>
          </p:nvPr>
        </p:nvSpPr>
        <p:spPr>
          <a:xfrm rot="34958">
            <a:off x="6715760" y="2211388"/>
            <a:ext cx="3865880" cy="1095375"/>
          </a:xfrm>
        </p:spPr>
        <p:txBody>
          <a:bodyPr wrap="none" anchor="ctr" anchorCtr="0">
            <a:spAutoFit/>
          </a:bodyPr>
          <a:lstStyle>
            <a:lvl1pPr algn="ctr">
              <a:buNone/>
              <a:defRPr sz="7250">
                <a:solidFill>
                  <a:srgbClr val="F6F6F5"/>
                </a:solidFill>
                <a:ea typeface="MiSans SemiBold" charset="0"/>
              </a:defRPr>
            </a:lvl1pPr>
          </a:lstStyle>
          <a:p>
            <a:r>
              <a:rPr lang="zh-CN" altLang="en-US" smtClean="0"/>
              <a:t>谢谢大家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20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2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6" hasCustomPrompt="1"/>
            <p:custDataLst>
              <p:tags r:id="rId4"/>
            </p:custDataLst>
          </p:nvPr>
        </p:nvSpPr>
        <p:spPr>
          <a:xfrm>
            <a:off x="12573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4" hasCustomPrompt="1"/>
            <p:custDataLst>
              <p:tags r:id="rId5"/>
            </p:custDataLst>
          </p:nvPr>
        </p:nvSpPr>
        <p:spPr>
          <a:xfrm>
            <a:off x="15417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36068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16000" y="41656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9" hasCustomPrompt="1"/>
            <p:custDataLst>
              <p:tags r:id="rId9"/>
            </p:custDataLst>
          </p:nvPr>
        </p:nvSpPr>
        <p:spPr>
          <a:xfrm>
            <a:off x="40767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7" hasCustomPrompt="1"/>
            <p:custDataLst>
              <p:tags r:id="rId10"/>
            </p:custDataLst>
          </p:nvPr>
        </p:nvSpPr>
        <p:spPr>
          <a:xfrm>
            <a:off x="43611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835400" y="36068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835400" y="41656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68961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400" hasCustomPrompt="1"/>
            <p:custDataLst>
              <p:tags r:id="rId15"/>
            </p:custDataLst>
          </p:nvPr>
        </p:nvSpPr>
        <p:spPr>
          <a:xfrm>
            <a:off x="71805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654800" y="36068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654800" y="41656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4" hasCustomPrompt="1"/>
            <p:custDataLst>
              <p:tags r:id="rId18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5" hasCustomPrompt="1"/>
            <p:custDataLst>
              <p:tags r:id="rId19"/>
            </p:custDataLst>
          </p:nvPr>
        </p:nvSpPr>
        <p:spPr>
          <a:xfrm>
            <a:off x="97155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3" hasCustomPrompt="1"/>
            <p:custDataLst>
              <p:tags r:id="rId20"/>
            </p:custDataLst>
          </p:nvPr>
        </p:nvSpPr>
        <p:spPr>
          <a:xfrm>
            <a:off x="99999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21"/>
            </p:custDataLst>
          </p:nvPr>
        </p:nvSpPr>
        <p:spPr>
          <a:xfrm>
            <a:off x="9474200" y="36068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2"/>
            </p:custDataLst>
          </p:nvPr>
        </p:nvSpPr>
        <p:spPr>
          <a:xfrm>
            <a:off x="9474200" y="41656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5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2362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667000"/>
            <a:ext cx="23622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9" hasCustomPrompt="1"/>
            <p:custDataLst>
              <p:tags r:id="rId4"/>
            </p:custDataLst>
          </p:nvPr>
        </p:nvSpPr>
        <p:spPr>
          <a:xfrm>
            <a:off x="3581400" y="609600"/>
            <a:ext cx="3924300" cy="2743200"/>
          </a:xfrm>
          <a:custGeom>
            <a:avLst/>
            <a:gdLst>
              <a:gd name="connisteX0" fmla="*/ 0 w 3924300"/>
              <a:gd name="connsiteY0" fmla="*/ 203200 h 2743200"/>
              <a:gd name="connisteX1" fmla="*/ 203200 w 3924300"/>
              <a:gd name="connsiteY1" fmla="*/ 0 h 2743200"/>
              <a:gd name="connisteX2" fmla="*/ 3721100 w 3924300"/>
              <a:gd name="connsiteY2" fmla="*/ 0 h 2743200"/>
              <a:gd name="connisteX3" fmla="*/ 3924300 w 3924300"/>
              <a:gd name="connsiteY3" fmla="*/ 203200 h 2743200"/>
              <a:gd name="connisteX4" fmla="*/ 3924300 w 3924300"/>
              <a:gd name="connsiteY4" fmla="*/ 2540000 h 2743200"/>
              <a:gd name="connisteX5" fmla="*/ 3721100 w 3924300"/>
              <a:gd name="connsiteY5" fmla="*/ 2743200 h 2743200"/>
              <a:gd name="connisteX6" fmla="*/ 203200 w 3924300"/>
              <a:gd name="connsiteY6" fmla="*/ 2743200 h 2743200"/>
              <a:gd name="connisteX7" fmla="*/ 0 w 3924300"/>
              <a:gd name="connsiteY7" fmla="*/ 2540000 h 2743200"/>
              <a:gd name="connisteX8" fmla="*/ 0 w 39243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9243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721100" y="0"/>
                </a:lnTo>
                <a:cubicBezTo>
                  <a:pt x="3833324" y="0"/>
                  <a:pt x="3924300" y="90976"/>
                  <a:pt x="3924300" y="203200"/>
                </a:cubicBezTo>
                <a:lnTo>
                  <a:pt x="3924300" y="2540000"/>
                </a:lnTo>
                <a:cubicBezTo>
                  <a:pt x="3924300" y="2652224"/>
                  <a:pt x="3833324" y="2743200"/>
                  <a:pt x="37211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3898900" y="1066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965200"/>
            <a:ext cx="1790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5410200" y="1473200"/>
            <a:ext cx="17907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7658100" y="609600"/>
            <a:ext cx="3924300" cy="2743200"/>
          </a:xfrm>
          <a:custGeom>
            <a:avLst/>
            <a:gdLst>
              <a:gd name="connisteX0" fmla="*/ 0 w 3924300"/>
              <a:gd name="connsiteY0" fmla="*/ 203200 h 2743200"/>
              <a:gd name="connisteX1" fmla="*/ 203200 w 3924300"/>
              <a:gd name="connsiteY1" fmla="*/ 0 h 2743200"/>
              <a:gd name="connisteX2" fmla="*/ 3721100 w 3924300"/>
              <a:gd name="connsiteY2" fmla="*/ 0 h 2743200"/>
              <a:gd name="connisteX3" fmla="*/ 3924300 w 3924300"/>
              <a:gd name="connsiteY3" fmla="*/ 203200 h 2743200"/>
              <a:gd name="connisteX4" fmla="*/ 3924300 w 3924300"/>
              <a:gd name="connsiteY4" fmla="*/ 2540000 h 2743200"/>
              <a:gd name="connisteX5" fmla="*/ 3721100 w 3924300"/>
              <a:gd name="connsiteY5" fmla="*/ 2743200 h 2743200"/>
              <a:gd name="connisteX6" fmla="*/ 203200 w 3924300"/>
              <a:gd name="connsiteY6" fmla="*/ 2743200 h 2743200"/>
              <a:gd name="connisteX7" fmla="*/ 0 w 3924300"/>
              <a:gd name="connsiteY7" fmla="*/ 2540000 h 2743200"/>
              <a:gd name="connisteX8" fmla="*/ 0 w 39243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9243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721100" y="0"/>
                </a:lnTo>
                <a:cubicBezTo>
                  <a:pt x="3833324" y="0"/>
                  <a:pt x="3924300" y="90976"/>
                  <a:pt x="3924300" y="203200"/>
                </a:cubicBezTo>
                <a:lnTo>
                  <a:pt x="3924300" y="2540000"/>
                </a:lnTo>
                <a:cubicBezTo>
                  <a:pt x="3924300" y="2652224"/>
                  <a:pt x="3833324" y="2743200"/>
                  <a:pt x="37211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7975600" y="1066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9486900" y="965200"/>
            <a:ext cx="1790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9486900" y="1473200"/>
            <a:ext cx="17907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401" hasCustomPrompt="1"/>
            <p:custDataLst>
              <p:tags r:id="rId12"/>
            </p:custDataLst>
          </p:nvPr>
        </p:nvSpPr>
        <p:spPr>
          <a:xfrm>
            <a:off x="3581400" y="3505200"/>
            <a:ext cx="3924300" cy="2743200"/>
          </a:xfrm>
          <a:custGeom>
            <a:avLst/>
            <a:gdLst>
              <a:gd name="connisteX0" fmla="*/ 0 w 3924300"/>
              <a:gd name="connsiteY0" fmla="*/ 203200 h 2743200"/>
              <a:gd name="connisteX1" fmla="*/ 203200 w 3924300"/>
              <a:gd name="connsiteY1" fmla="*/ 0 h 2743200"/>
              <a:gd name="connisteX2" fmla="*/ 3721100 w 3924300"/>
              <a:gd name="connsiteY2" fmla="*/ 0 h 2743200"/>
              <a:gd name="connisteX3" fmla="*/ 3924300 w 3924300"/>
              <a:gd name="connsiteY3" fmla="*/ 203200 h 2743200"/>
              <a:gd name="connisteX4" fmla="*/ 3924300 w 3924300"/>
              <a:gd name="connsiteY4" fmla="*/ 2540000 h 2743200"/>
              <a:gd name="connisteX5" fmla="*/ 3721100 w 3924300"/>
              <a:gd name="connsiteY5" fmla="*/ 2743200 h 2743200"/>
              <a:gd name="connisteX6" fmla="*/ 203200 w 3924300"/>
              <a:gd name="connsiteY6" fmla="*/ 2743200 h 2743200"/>
              <a:gd name="connisteX7" fmla="*/ 0 w 3924300"/>
              <a:gd name="connsiteY7" fmla="*/ 2540000 h 2743200"/>
              <a:gd name="connisteX8" fmla="*/ 0 w 39243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9243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721100" y="0"/>
                </a:lnTo>
                <a:cubicBezTo>
                  <a:pt x="3833324" y="0"/>
                  <a:pt x="3924300" y="90976"/>
                  <a:pt x="3924300" y="203200"/>
                </a:cubicBezTo>
                <a:lnTo>
                  <a:pt x="3924300" y="2540000"/>
                </a:lnTo>
                <a:cubicBezTo>
                  <a:pt x="3924300" y="2652224"/>
                  <a:pt x="3833324" y="2743200"/>
                  <a:pt x="37211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3898900" y="39624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5410200" y="3860800"/>
            <a:ext cx="1790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5410200" y="4368800"/>
            <a:ext cx="17907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2" hasCustomPrompt="1"/>
            <p:custDataLst>
              <p:tags r:id="rId16"/>
            </p:custDataLst>
          </p:nvPr>
        </p:nvSpPr>
        <p:spPr>
          <a:xfrm>
            <a:off x="7658100" y="3505200"/>
            <a:ext cx="3924300" cy="2743200"/>
          </a:xfrm>
          <a:custGeom>
            <a:avLst/>
            <a:gdLst>
              <a:gd name="connisteX0" fmla="*/ 0 w 3924300"/>
              <a:gd name="connsiteY0" fmla="*/ 203200 h 2743200"/>
              <a:gd name="connisteX1" fmla="*/ 203200 w 3924300"/>
              <a:gd name="connsiteY1" fmla="*/ 0 h 2743200"/>
              <a:gd name="connisteX2" fmla="*/ 3721100 w 3924300"/>
              <a:gd name="connsiteY2" fmla="*/ 0 h 2743200"/>
              <a:gd name="connisteX3" fmla="*/ 3924300 w 3924300"/>
              <a:gd name="connsiteY3" fmla="*/ 203200 h 2743200"/>
              <a:gd name="connisteX4" fmla="*/ 3924300 w 3924300"/>
              <a:gd name="connsiteY4" fmla="*/ 2540000 h 2743200"/>
              <a:gd name="connisteX5" fmla="*/ 3721100 w 3924300"/>
              <a:gd name="connsiteY5" fmla="*/ 2743200 h 2743200"/>
              <a:gd name="connisteX6" fmla="*/ 203200 w 3924300"/>
              <a:gd name="connsiteY6" fmla="*/ 2743200 h 2743200"/>
              <a:gd name="connisteX7" fmla="*/ 0 w 3924300"/>
              <a:gd name="connsiteY7" fmla="*/ 2540000 h 2743200"/>
              <a:gd name="connisteX8" fmla="*/ 0 w 39243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9243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721100" y="0"/>
                </a:lnTo>
                <a:cubicBezTo>
                  <a:pt x="3833324" y="0"/>
                  <a:pt x="3924300" y="90976"/>
                  <a:pt x="3924300" y="203200"/>
                </a:cubicBezTo>
                <a:lnTo>
                  <a:pt x="3924300" y="2540000"/>
                </a:lnTo>
                <a:cubicBezTo>
                  <a:pt x="3924300" y="2652224"/>
                  <a:pt x="3833324" y="2743200"/>
                  <a:pt x="37211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7975600" y="39624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9486900" y="3860800"/>
            <a:ext cx="1790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9486900" y="4368800"/>
            <a:ext cx="17907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45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404" hasCustomPrompt="1"/>
            <p:custDataLst>
              <p:tags r:id="rId3"/>
            </p:custDataLst>
          </p:nvPr>
        </p:nvSpPr>
        <p:spPr>
          <a:xfrm>
            <a:off x="609600" y="2057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62000" y="2235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422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422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405" hasCustomPrompt="1"/>
            <p:custDataLst>
              <p:tags r:id="rId7"/>
            </p:custDataLst>
          </p:nvPr>
        </p:nvSpPr>
        <p:spPr>
          <a:xfrm>
            <a:off x="6324600" y="2057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77000" y="2235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137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137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6" hasCustomPrompt="1"/>
            <p:custDataLst>
              <p:tags r:id="rId11"/>
            </p:custDataLst>
          </p:nvPr>
        </p:nvSpPr>
        <p:spPr>
          <a:xfrm>
            <a:off x="609600" y="3581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62000" y="3759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422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422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407" hasCustomPrompt="1"/>
            <p:custDataLst>
              <p:tags r:id="rId15"/>
            </p:custDataLst>
          </p:nvPr>
        </p:nvSpPr>
        <p:spPr>
          <a:xfrm>
            <a:off x="6324600" y="3581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477000" y="3759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137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137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8" hasCustomPrompt="1"/>
            <p:custDataLst>
              <p:tags r:id="rId19"/>
            </p:custDataLst>
          </p:nvPr>
        </p:nvSpPr>
        <p:spPr>
          <a:xfrm>
            <a:off x="609600" y="5105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400" hasCustomPrompt="1"/>
            <p:custDataLst>
              <p:tags r:id="rId20"/>
            </p:custDataLst>
          </p:nvPr>
        </p:nvSpPr>
        <p:spPr>
          <a:xfrm>
            <a:off x="762000" y="5283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1422400" y="4876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9" hasCustomPrompt="1"/>
            <p:custDataLst>
              <p:tags r:id="rId22"/>
            </p:custDataLst>
          </p:nvPr>
        </p:nvSpPr>
        <p:spPr>
          <a:xfrm>
            <a:off x="1422400" y="5334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9" hasCustomPrompt="1"/>
            <p:custDataLst>
              <p:tags r:id="rId23"/>
            </p:custDataLst>
          </p:nvPr>
        </p:nvSpPr>
        <p:spPr>
          <a:xfrm>
            <a:off x="6324600" y="5105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403" hasCustomPrompt="1"/>
            <p:custDataLst>
              <p:tags r:id="rId24"/>
            </p:custDataLst>
          </p:nvPr>
        </p:nvSpPr>
        <p:spPr>
          <a:xfrm>
            <a:off x="6477000" y="5283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401" hasCustomPrompt="1"/>
            <p:custDataLst>
              <p:tags r:id="rId25"/>
            </p:custDataLst>
          </p:nvPr>
        </p:nvSpPr>
        <p:spPr>
          <a:xfrm>
            <a:off x="7137400" y="4876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402" hasCustomPrompt="1"/>
            <p:custDataLst>
              <p:tags r:id="rId26"/>
            </p:custDataLst>
          </p:nvPr>
        </p:nvSpPr>
        <p:spPr>
          <a:xfrm>
            <a:off x="7137400" y="5334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左内下右表-装饰无-默认位置-并列-61_22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1079500" y="2362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66800" y="37846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66800" y="4292600"/>
            <a:ext cx="198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3670300" y="2362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657600" y="37846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3657600" y="4292600"/>
            <a:ext cx="198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1-2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此处添加章节标题内容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9" Type="http://schemas.openxmlformats.org/officeDocument/2006/relationships/theme" Target="../theme/theme2.xml"/><Relationship Id="rId28" Type="http://schemas.openxmlformats.org/officeDocument/2006/relationships/tags" Target="../tags/tag181.xml"/><Relationship Id="rId27" Type="http://schemas.openxmlformats.org/officeDocument/2006/relationships/tags" Target="../tags/tag180.xml"/><Relationship Id="rId26" Type="http://schemas.openxmlformats.org/officeDocument/2006/relationships/image" Target="../media/image3.png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673810e1-af1a-11f0-a9cc-9ad744f42829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image" Target="../media/image4.jpeg"/><Relationship Id="rId2" Type="http://schemas.openxmlformats.org/officeDocument/2006/relationships/tags" Target="../tags/tag187.xml"/><Relationship Id="rId17" Type="http://schemas.openxmlformats.org/officeDocument/2006/relationships/slideLayout" Target="../slideLayouts/slideLayout15.xml"/><Relationship Id="rId16" Type="http://schemas.openxmlformats.org/officeDocument/2006/relationships/tags" Target="../tags/tag200.xml"/><Relationship Id="rId15" Type="http://schemas.openxmlformats.org/officeDocument/2006/relationships/tags" Target="../tags/tag199.xml"/><Relationship Id="rId14" Type="http://schemas.openxmlformats.org/officeDocument/2006/relationships/tags" Target="../tags/tag198.xml"/><Relationship Id="rId13" Type="http://schemas.openxmlformats.org/officeDocument/2006/relationships/tags" Target="../tags/tag197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tags" Target="../tags/tag18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image" Target="../media/image6.jpeg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image" Target="../media/image5.jpeg"/><Relationship Id="rId2" Type="http://schemas.openxmlformats.org/officeDocument/2006/relationships/tags" Target="../tags/tag202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211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image" Target="../media/image7.jpeg"/><Relationship Id="rId10" Type="http://schemas.openxmlformats.org/officeDocument/2006/relationships/tags" Target="../tags/tag208.xml"/><Relationship Id="rId1" Type="http://schemas.openxmlformats.org/officeDocument/2006/relationships/tags" Target="../tags/tag20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image" Target="../media/image8.png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tags" Target="../tags/tag2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image" Target="../media/image10.png"/><Relationship Id="rId2" Type="http://schemas.openxmlformats.org/officeDocument/2006/relationships/tags" Target="../tags/tag223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233.xml"/><Relationship Id="rId15" Type="http://schemas.openxmlformats.org/officeDocument/2006/relationships/image" Target="NULL" TargetMode="External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tags" Target="../tags/tag22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image" Target="../media/image13.jpeg"/><Relationship Id="rId2" Type="http://schemas.openxmlformats.org/officeDocument/2006/relationships/tags" Target="../tags/tag235.xml"/><Relationship Id="rId11" Type="http://schemas.openxmlformats.org/officeDocument/2006/relationships/slideLayout" Target="../slideLayouts/slideLayout34.xml"/><Relationship Id="rId10" Type="http://schemas.openxmlformats.org/officeDocument/2006/relationships/tags" Target="../tags/tag242.xml"/><Relationship Id="rId1" Type="http://schemas.openxmlformats.org/officeDocument/2006/relationships/tags" Target="../tags/tag23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256.xml"/><Relationship Id="rId13" Type="http://schemas.openxmlformats.org/officeDocument/2006/relationships/tags" Target="../tags/tag255.xml"/><Relationship Id="rId12" Type="http://schemas.openxmlformats.org/officeDocument/2006/relationships/tags" Target="../tags/tag254.xml"/><Relationship Id="rId11" Type="http://schemas.openxmlformats.org/officeDocument/2006/relationships/tags" Target="../tags/tag253.xml"/><Relationship Id="rId10" Type="http://schemas.openxmlformats.org/officeDocument/2006/relationships/tags" Target="../tags/tag252.xml"/><Relationship Id="rId1" Type="http://schemas.openxmlformats.org/officeDocument/2006/relationships/tags" Target="../tags/tag24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258.xml"/><Relationship Id="rId1" Type="http://schemas.openxmlformats.org/officeDocument/2006/relationships/tags" Target="../tags/tag2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ea typeface="宋体" panose="02010600030101010101" pitchFamily="2" charset="-122"/>
              </a:rPr>
              <a:t>天猫超市介绍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1"/>
            <p:custDataLst>
              <p:tags r:id="rId2"/>
            </p:custDataLst>
          </p:nvPr>
        </p:nvSpPr>
        <p:spPr>
          <a:xfrm>
            <a:off x="9926320" y="3867468"/>
            <a:ext cx="1173480" cy="361315"/>
          </a:xfrm>
        </p:spPr>
        <p:txBody>
          <a:bodyPr/>
          <a:p>
            <a:r>
              <a:rPr lang="zh-CN" altLang="en-US"/>
              <a:t>炉石</a:t>
            </a:r>
            <a:r>
              <a:rPr lang="zh-CN" altLang="en-US">
                <a:cs typeface="Arial" panose="020B0604020202020204" pitchFamily="34" charset="0"/>
              </a:rPr>
              <a:t>电商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2"/>
            <p:custDataLst>
              <p:tags r:id="rId3"/>
            </p:custDataLst>
          </p:nvPr>
        </p:nvSpPr>
        <p:spPr>
          <a:xfrm rot="33160">
            <a:off x="9146540" y="4234180"/>
            <a:ext cx="1934210" cy="358140"/>
          </a:xfrm>
        </p:spPr>
        <p:txBody>
          <a:bodyPr/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天猫超市合作模式解析</a:t>
            </a:r>
            <a:endParaRPr lang="zh-CN" altLang="en-US"/>
          </a:p>
        </p:txBody>
      </p:sp>
      <p:pic>
        <p:nvPicPr>
          <p:cNvPr id="3" name="内容占位符 2" descr="7d383efa-af1a-11f0-a1dc-121a84656b8b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t="3249" b="3249"/>
          <a:stretch>
            <a:fillRect/>
          </a:stretch>
        </p:blipFill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1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供应商协作机制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天猫超市核心概念整合全平台优质产品集货于天猫超市，由商家与猫超小二配合去经营的供应商模式。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费用收取标准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按商品类别收取20%-25%毛保费用，统一收取5万元固定保证金，费用结构清晰透明。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结算周期规则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每月1日、11日、21日三次定时结算，确保资金流转时效性，支持商家灵活周转。</a:t>
            </a:r>
            <a:endParaRPr lang="zh-CN" altLang="en-US"/>
          </a:p>
        </p:txBody>
      </p:sp>
      <p:sp>
        <p:nvSpPr>
          <p:cNvPr id="13" name="装饰  0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仓储物流体系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商品集中入猫超六大中心仓，平台全权负责仓储管理、打包发货及售后，保障配送效率。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极致便捷的物流与配送体验（核心王牌）</a:t>
            </a:r>
            <a:endParaRPr lang="zh-CN" altLang="en-US"/>
          </a:p>
        </p:txBody>
      </p:sp>
      <p:pic>
        <p:nvPicPr>
          <p:cNvPr id="3" name="内容占位符 2" descr="7a6a982f-af1a-11f0-8dd7-2a13ae93f541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3820" r="3820"/>
          <a:stretch>
            <a:fillRect/>
          </a:stretch>
        </p:blipFill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极速配送网络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通过全国前置仓布局，用户当日或次日收货，远超传统电商时效，覆盖生鲜与应急商品即时送达。</a:t>
            </a:r>
            <a:endParaRPr lang="zh-CN" altLang="en-US"/>
          </a:p>
        </p:txBody>
      </p:sp>
      <p:pic>
        <p:nvPicPr>
          <p:cNvPr id="6" name="内容占位符 5" descr="7a6a99b4-af1a-11f0-8dd7-2a13ae93f541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r="20540" b="27989"/>
          <a:stretch>
            <a:fillRect/>
          </a:stretch>
        </p:blipFill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即时消费需求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联合饿了么及线下商超，生鲜与急用商品1小时送达，精准满足用户应急与即时性购买需求。</a:t>
            </a:r>
            <a:endParaRPr lang="zh-CN" altLang="en-US"/>
          </a:p>
        </p:txBody>
      </p:sp>
      <p:pic>
        <p:nvPicPr>
          <p:cNvPr id="9" name="内容占位符 8" descr="7a6a974b-af1a-11f0-8dd7-2a13ae93f541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t="9743"/>
          <a:stretch>
            <a:fillRect/>
          </a:stretch>
        </p:blipFill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标准化服务保障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重物配送提供免费送货上门，解决“最后一公里”难题，确保米面粮油等大件商品无接触配送，增加消费者粘性及复购。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背靠阿里生态的庞大流量与入口</a:t>
            </a:r>
            <a:endParaRPr lang="zh-CN" altLang="en-US"/>
          </a:p>
        </p:txBody>
      </p:sp>
      <p:sp>
        <p:nvSpPr>
          <p:cNvPr id="3" name="装饰  0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7d787558-af1a-11f0-abca-e24a66a00e7a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2229" r="12229"/>
          <a:stretch>
            <a:fillRect/>
          </a:stretch>
        </p:blipFill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流量无缝接入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天猫超市内嵌于淘宝及天猫主站，无需跳转独立应用，直接共享数亿日活用户资源，显著降低用户获取成本。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7d787679-af1a-11f0-abca-e24a66a00e7a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48" b="48"/>
          <a:stretch>
            <a:fillRect/>
          </a:stretch>
        </p:blipFill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会员体系整合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阿里88VIP会员体系，会员可专享天猫超市专属折扣与优惠，有效提升用户复购率与平台粘性。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商品品类的精选与质量保证</a:t>
            </a:r>
            <a:endParaRPr lang="zh-CN" altLang="en-US"/>
          </a:p>
        </p:txBody>
      </p:sp>
      <p:pic>
        <p:nvPicPr>
          <p:cNvPr id="14" name="内容占位符 13" descr="loading_bg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2687" r="2687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1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商品品类覆盖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覆盖食品生鲜、日用清洁、个护美妆及家居用品，聚焦家庭高频消费场景，形成“快消品+生活必需品”一站式选品。</a:t>
            </a:r>
            <a:endParaRPr lang="zh-CN" altLang="en-US"/>
          </a:p>
        </p:txBody>
      </p:sp>
      <p:sp>
        <p:nvSpPr>
          <p:cNvPr id="8" name="装饰  5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0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自营模式优势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以直营为核心，自营商品全链路管控货源与品控，平台代销为辅，强化质量背书，打造线上类沃尔玛式高效供应链体系。</a:t>
            </a:r>
            <a:endParaRPr lang="zh-CN" altLang="en-US"/>
          </a:p>
        </p:txBody>
      </p:sp>
      <p:pic>
        <p:nvPicPr>
          <p:cNvPr id="12" name="图片 11" descr="/data/resource/share/img_loading.sv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 r:link="rId15"/>
              </a:ext>
            </a:extLst>
          </a:blip>
          <a:stretch>
            <a:fillRect/>
          </a:stretch>
        </p:blipFill>
        <p:spPr>
          <a:xfrm>
            <a:off x="9436100" y="3200400"/>
            <a:ext cx="254000" cy="254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天猫超市入驻优势</a:t>
            </a:r>
            <a:endParaRPr lang="zh-CN" altLang="en-US"/>
          </a:p>
        </p:txBody>
      </p:sp>
      <p:pic>
        <p:nvPicPr>
          <p:cNvPr id="3" name="内容占位符 2" descr="a69146eb-af20-11f0-ab1c-d63ccbaf2d3d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283" b="2283"/>
          <a:stretch>
            <a:fillRect/>
          </a:stretch>
        </p:blipFill>
        <p:spPr>
          <a:xfrm>
            <a:off x="609600" y="15240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邀约制合作模式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天猫超市采用邀约制，仅与全平台Top商家合作，确保高质量供应链。平台对商家产品及实力要求严格，形成深度绑定关系，保障双方利益。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绿色通道支持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炉石电商作为天猫超市长期服务商，拥有专属绿色通道，可协助优质商家快速完成入驻流程，节省时间成本，提升合作效率。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深度资源绑定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入驻商家与平台建立长期稳定合作关系，共享平台流量与资源支持，助力品牌曝光与销售增长，实现双赢局面。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商家与平台协作机制</a:t>
            </a:r>
            <a:endParaRPr lang="zh-CN" altLang="en-US"/>
          </a:p>
        </p:txBody>
      </p:sp>
      <p:sp>
        <p:nvSpPr>
          <p:cNvPr id="3" name="装饰  0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入驻资质要求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公司需满足一年经营时长，具备一般纳税人资格，注册资金不低于100万元，确保合规性。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商家与平台的关系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商家主要需要有自己的运营去配合平台小二做销售，小二能给到商家活动资源的推广，消费者下单之后的仓储物流打包售后都由平台负责，费用平台承担。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服务商支持服务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炉石</a:t>
            </a:r>
            <a:r>
              <a:rPr lang="zh-CN" altLang="en-US">
                <a:cs typeface="Arial" panose="020B0604020202020204" pitchFamily="34" charset="0"/>
              </a:rPr>
              <a:t>电商可通过和平台小二深度合作</a:t>
            </a:r>
            <a:r>
              <a:rPr lang="zh-CN" altLang="en-US"/>
              <a:t>联系类目小二洽谈入驻条款，组织阿里巴巴总部面谈强化合作信任，推动多品牌店铺运营。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5077" y="206177"/>
            <a:ext cx="10515600" cy="1325563"/>
          </a:xfrm>
        </p:spPr>
        <p:txBody>
          <a:bodyPr/>
          <a:p>
            <a:r>
              <a:rPr lang="zh-CN" altLang="en-US"/>
              <a:t>合作</a:t>
            </a:r>
            <a:r>
              <a:rPr lang="zh-CN" altLang="en-US">
                <a:cs typeface="Arial" panose="020B0604020202020204" pitchFamily="34" charset="0"/>
              </a:rPr>
              <a:t>案例</a:t>
            </a:r>
            <a:endParaRPr lang="zh-CN" altLang="en-US"/>
          </a:p>
        </p:txBody>
      </p:sp>
      <p:pic>
        <p:nvPicPr>
          <p:cNvPr id="4" name="图片 3" descr="post_object_image_29188622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2346" y="1636900"/>
            <a:ext cx="1736562" cy="1380779"/>
          </a:xfrm>
          <a:prstGeom prst="rect">
            <a:avLst/>
          </a:prstGeom>
        </p:spPr>
      </p:pic>
      <p:pic>
        <p:nvPicPr>
          <p:cNvPr id="5" name="图片 4" descr="post_object_image_35314529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09" y="1636900"/>
            <a:ext cx="3671179" cy="1380725"/>
          </a:xfrm>
          <a:prstGeom prst="rect">
            <a:avLst/>
          </a:prstGeom>
        </p:spPr>
      </p:pic>
      <p:pic>
        <p:nvPicPr>
          <p:cNvPr id="7" name="图片 6" descr="post_object_image_1761803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005" y="1636900"/>
            <a:ext cx="2154015" cy="1380779"/>
          </a:xfrm>
          <a:prstGeom prst="rect">
            <a:avLst/>
          </a:prstGeom>
        </p:spPr>
      </p:pic>
      <p:pic>
        <p:nvPicPr>
          <p:cNvPr id="8" name="图片 7" descr="post_object_image_336159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571" y="3902302"/>
            <a:ext cx="1942612" cy="1680585"/>
          </a:xfrm>
          <a:prstGeom prst="rect">
            <a:avLst/>
          </a:prstGeom>
        </p:spPr>
      </p:pic>
      <p:pic>
        <p:nvPicPr>
          <p:cNvPr id="9" name="图片 8" descr="post_object_image_12426450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530" y="3902302"/>
            <a:ext cx="1736601" cy="1680582"/>
          </a:xfrm>
          <a:prstGeom prst="rect">
            <a:avLst/>
          </a:prstGeom>
        </p:spPr>
      </p:pic>
      <p:pic>
        <p:nvPicPr>
          <p:cNvPr id="10" name="图片 9" descr="post_object_image_64263479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50" y="4039700"/>
            <a:ext cx="3751786" cy="15431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0"/>
            <p:custDataLst>
              <p:tags r:id="rId1"/>
            </p:custDataLst>
          </p:nvPr>
        </p:nvSpPr>
        <p:spPr>
          <a:xfrm rot="34958">
            <a:off x="7636510" y="2211388"/>
            <a:ext cx="2024380" cy="1095375"/>
          </a:xfr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谢谢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fd1c1afef6ac1c89462f4f116e10e6b23dc14"/>
  <p:tag name="KSO_WM_NEWLAYOUT_GROUP_ID" val="layout_49"/>
  <p:tag name="KSO_WM_NEWLAYOUT_ID" val="slide_10d35a04bcb4fa26"/>
</p:tagLst>
</file>

<file path=ppt/tags/tag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230028913f5d29b30d048de602e557bb462d636"/>
  <p:tag name="KSO_WM_NEWLAYOUT_GROUP_ID" val="layout_6"/>
  <p:tag name="KSO_WM_NEWLAYOUT_ID" val="slide_bbe7822a0ca79658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a5f73586bb3076d4d21cda5c4461802367b881"/>
  <p:tag name="KSO_WM_NEWLAYOUT_GROUP_ID" val="layout_2"/>
  <p:tag name="KSO_WM_NEWLAYOUT_ID" val="slide_efebb92098ae4c0e"/>
</p:tagLst>
</file>

<file path=ppt/tags/tag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9d917deb3550a61dcd23617f09b1b9eeeb3904"/>
  <p:tag name="KSO_WM_NEWLAYOUT_GROUP_ID" val="layout_10009"/>
  <p:tag name="KSO_WM_NEWLAYOUT_ID" val="slide_9d99194b34fe91b2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54ed62972586f05f84ebdb67f0cf6e92a35047"/>
  <p:tag name="KSO_WM_NEWLAYOUT_GROUP_ID" val="layout_51"/>
  <p:tag name="KSO_WM_NEWLAYOUT_ID" val="slide_fd762d7c5b3bb650"/>
</p:tagLst>
</file>

<file path=ppt/tags/tag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7.xml><?xml version="1.0" encoding="utf-8"?>
<p:tagLst xmlns:p="http://schemas.openxmlformats.org/presentationml/2006/main">
  <p:tag name="KSO_WM_BEAUTIFY_FLAG" val="#wm#"/>
  <p:tag name="KSO_WM_UNIT_TYPE" val="a"/>
  <p:tag name="KSO_WM_UNIT_INDEX" val="1"/>
</p:tagLst>
</file>

<file path=ppt/tags/tag58.xml><?xml version="1.0" encoding="utf-8"?>
<p:tagLst xmlns:p="http://schemas.openxmlformats.org/presentationml/2006/main">
  <p:tag name="KSO_WM_BEAUTIFY_FLAG" val="#wm#"/>
  <p:tag name="KSO_WM_UNIT_TYPE" val="f"/>
  <p:tag name="KSO_WM_UNIT_SUBTYPE" val="b"/>
  <p:tag name="KSO_WM_UNIT_INDEX" val="1"/>
</p:tagLst>
</file>

<file path=ppt/tags/tag59.xml><?xml version="1.0" encoding="utf-8"?>
<p:tagLst xmlns:p="http://schemas.openxmlformats.org/presentationml/2006/main">
  <p:tag name="KSO_WM_BEAUTIFY_FLAG" val="#wm#"/>
  <p:tag name="KSO_WM_UNIT_TYPE" val="f"/>
  <p:tag name="KSO_WM_UNIT_SUBTYPE" val="c"/>
  <p:tag name="KSO_WM_UNIT_INDEX" val="2"/>
</p:tagLst>
</file>

<file path=ppt/tags/tag60.xml><?xml version="1.0" encoding="utf-8"?>
<p:tagLst xmlns:p="http://schemas.openxmlformats.org/presentationml/2006/main">
  <p:tag name="KSO_WM_BEAUTIFY_FLAG" val="#wm#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086252ba1e02fcc94d3ebc33134ebbe4933e31b"/>
  <p:tag name="KSO_WM_NEWLAYOUT_ID" val="slide_ba60fb0293b23fd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6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6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c9d4e82da6e4381c6a6017a9043706628247407"/>
  <p:tag name="KSO_WM_NEWLAYOUT_ID" val="slide_01072e67c032e659"/>
</p:tagLst>
</file>

<file path=ppt/tags/tag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8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8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9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99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9682a8838c2f21c8f49a062b13c3dc0c93b21d"/>
  <p:tag name="KSO_WM_NEWLAYOUT_ID" val="slide_2b1d2aa1eb39d84c"/>
</p:tagLst>
</file>

<file path=ppt/tags/tag1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3"/>
  <p:tag name="KSO_WM_UNIT_SUBTYPE" val="d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3"/>
  <p:tag name="KSO_WM_UNIT_SUBTYPE" val="d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3"/>
  <p:tag name="KSO_WM_UNIT_SUBTYPE" val="d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3"/>
  <p:tag name="KSO_WM_UNIT_SUBTYPE" val="d"/>
  <p:tag name="KSO_WM_UNIT_TYPE" val="l_h_i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ffc6a66213decf4cbfb337d3d56ad2222a3329b"/>
  <p:tag name="KSO_WM_NEWLAYOUT_ID" val="slide_bbcaf55b27ff942f"/>
</p:tagLst>
</file>

<file path=ppt/tags/tag12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2"/>
  <p:tag name="KSO_WM_UNIT_SUBTYPE" val="d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4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2"/>
  <p:tag name="KSO_WM_UNIT_SUBTYPE" val="d"/>
  <p:tag name="KSO_WM_UNIT_TYPE" val="l_h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1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2d46a862eced6839dc274bc3eaa59f37c375e3e"/>
  <p:tag name="KSO_WM_NEWLAYOUT_ID" val="slide_250f5b83123f6923"/>
</p:tagLst>
</file>

<file path=ppt/tags/tag1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aa9cd17bb991578ce35cbf656eb336cf30f4cd1"/>
  <p:tag name="KSO_WM_NEWLAYOUT_ID" val="slide_bf7182397f2461bd"/>
</p:tagLst>
</file>

<file path=ppt/tags/tag1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6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763e43f98db1b80168f257876926cec51970148"/>
  <p:tag name="KSO_WM_NEWLAYOUT_ID" val="slide_8d1615941f9e1a55"/>
</p:tagLst>
</file>

<file path=ppt/tags/tag1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</p:tagLst>
</file>

<file path=ppt/tags/tag1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1d3201f2110e5496356c41ea64edd37d2c569c"/>
  <p:tag name="KSO_WM_NEWLAYOUT_GROUP_ID" val="layout_10013"/>
  <p:tag name="KSO_WM_NEWLAYOUT_ID" val="slide_ae0306d391427932"/>
</p:tagLst>
</file>

<file path=ppt/tags/tag1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965cb4e3b6c902471ca29364d8914d8ea200bd"/>
  <p:tag name="KSO_WM_NEWLAYOUT_GROUP_ID" val="layout_10007"/>
  <p:tag name="KSO_WM_NEWLAYOUT_ID" val="slide_a93629e32f0363b8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0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AITEMPLATE_STYLE_ID" val="0"/>
</p:tagLst>
</file>

<file path=ppt/tags/tag182.xml><?xml version="1.0" encoding="utf-8"?>
<p:tagLst xmlns:p="http://schemas.openxmlformats.org/presentationml/2006/main">
  <p:tag name="KSO_WM_BEAUTIFY_FLAG" val="#wm#"/>
  <p:tag name="KSO_WM_UNIT_TYPE" val="a"/>
  <p:tag name="KSO_WM_UNIT_INDEX" val="1"/>
</p:tagLst>
</file>

<file path=ppt/tags/tag183.xml><?xml version="1.0" encoding="utf-8"?>
<p:tagLst xmlns:p="http://schemas.openxmlformats.org/presentationml/2006/main">
  <p:tag name="KSO_WM_BEAUTIFY_FLAG" val="#wm#"/>
  <p:tag name="KSO_WM_UNIT_TYPE" val="f"/>
  <p:tag name="KSO_WM_UNIT_SUBTYPE" val="b"/>
  <p:tag name="KSO_WM_UNIT_INDEX" val="1"/>
</p:tagLst>
</file>

<file path=ppt/tags/tag184.xml><?xml version="1.0" encoding="utf-8"?>
<p:tagLst xmlns:p="http://schemas.openxmlformats.org/presentationml/2006/main">
  <p:tag name="KSO_WM_BEAUTIFY_FLAG" val="#wm#"/>
  <p:tag name="KSO_WM_UNIT_TYPE" val="f"/>
  <p:tag name="KSO_WM_UNIT_SUBTYPE" val="c"/>
  <p:tag name="KSO_WM_UNIT_INDEX" val="2"/>
</p:tagLst>
</file>

<file path=ppt/tags/tag185.xml><?xml version="1.0" encoding="utf-8"?>
<p:tagLst xmlns:p="http://schemas.openxmlformats.org/presentationml/2006/main">
  <p:tag name="KSO_WM_SLIDE_TYPE" val="title"/>
  <p:tag name="KSO_WM_BEAUTIFY_FLAG" val="#wm#"/>
  <p:tag name="KSO_WM_TEMPLATE_SUBCATEGORY" val="29"/>
  <p:tag name="KSO_WM_AI_TEMPLATE_TYPE" val="aiCover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54ed62972586f05f84ebdb67f0cf6e92a35047"/>
  <p:tag name="KSO_WM_NEWLAYOUT_GROUP_ID" val="layout_51"/>
  <p:tag name="KSO_WM_NEWLAYOUT_ID" val="slide_fd762d7c5b3bb650"/>
  <p:tag name="KSO_WM_UNIT_PRESET_TEXT" val="单击此处添加标题"/>
</p:tagLst>
</file>

<file path=ppt/tags/tag1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0/75d7d8a1-4b76-44e3-99be-f024c87018e0.jpg?Expires=1792654875\u0026AWSAccessKeyId=AKLT9NSy7kh8TIS1UzNqLRY2\u0026Signature=3aQJ8PvKzw0JddMJIHIKXAYBJvo%3D&quot;,&quot;product_name&quot;:&quot;wps-wpp-pc&quot;,&quot;intention_code&quot;:&quot;wps_wpp_generate_doc_pay&quot;}*auto_qingqiu_ai_3.0.1_online*3665633330613162333239616166383738373734613330633139373364616439-slide-1"/>
</p:tagLst>
</file>

<file path=ppt/tags/tag1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9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9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9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20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fd762d7c5b3bb650"/>
</p:tagLst>
</file>

<file path=ppt/tags/tag2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9d917deb3550a61dcd23617f09b1b9eeeb3904"/>
  <p:tag name="KSO_WM_NEWLAYOUT_GROUP_ID" val="layout_10009"/>
  <p:tag name="KSO_WM_NEWLAYOUT_ID" val="slide_9d99194b34fe91b2"/>
  <p:tag name="KSO_WM_UNIT_PRESET_TEXT" val="单击此处添加标题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95012019&quot;,&quot;product_name&quot;:&quot;wps-wpp-pc&quot;,&quot;intention_code&quot;:&quot;wps_wpp_generate_doc_pay&quot;}*auto_gallery_ai_v2.1.6_ONLINE*3665633330613162333239616166383738373734613330633139373364616439-slide-2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155352238&quot;,&quot;product_name&quot;:&quot;wps-wpp-pc&quot;,&quot;intention_code&quot;:&quot;wps_wpp_generate_doc_pay&quot;}*auto_gallery_ai_v2.1.6_ONLINE*3665633330613162333239616166383738373734613330633139373364616439-slide-2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19675852&quot;,&quot;product_name&quot;:&quot;wps-wpp-pc&quot;,&quot;intention_code&quot;:&quot;wps_wpp_generate_doc_pay&quot;}*auto_gallery_ai_v2.1.6_ONLINE*3665633330613162333239616166383738373734613330633139373364616439-slide-2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1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9d99194b34fe91b2"/>
</p:tagLst>
</file>

<file path=ppt/tags/tag2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a5f73586bb3076d4d21cda5c4461802367b881"/>
  <p:tag name="KSO_WM_NEWLAYOUT_GROUP_ID" val="layout_2"/>
  <p:tag name="KSO_WM_NEWLAYOUT_ID" val="slide_efebb92098ae4c0e"/>
  <p:tag name="KSO_WM_UNIT_PRESET_TEXT" val="单击此处添加标题"/>
</p:tagLst>
</file>

<file path=ppt/tags/tag2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0/058e7a45-e80f-4d63-8865-93bbaa270407.jpg?Expires=1792654875\u0026AWSAccessKeyId=AKLT9NSy7kh8TIS1UzNqLRY2\u0026Signature=Ha0BA8IE3r0YHD1N6JZyDU8fyQE%3D&quot;,&quot;product_name&quot;:&quot;wps-wpp-pc&quot;,&quot;intention_code&quot;:&quot;wps_wpp_generate_doc_pay&quot;}*auto_qingqiu_ai_v2.1.6_ONLINE*3665633330613162333239616166383738373734613330633139373364616439-slide-3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1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0/2b596210-fdc0-4a94-9445-065c8f337a7e.jpg?Expires=1792654875\u0026AWSAccessKeyId=AKLT9NSy7kh8TIS1UzNqLRY2\u0026Signature=M9W2RdtFFktuP8Lswan0aB3X%2B1Y%3D&quot;,&quot;product_name&quot;:&quot;wps-wpp-pc&quot;,&quot;intention_code&quot;:&quot;wps_wpp_generate_doc_pay&quot;}*auto_qingqiu_ai_v2.1.6_ONLINE*3665633330613162333239616166383738373734613330633139373364616439-slide-3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2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efebb92098ae4c0e"/>
</p:tagLst>
</file>

<file path=ppt/tags/tag2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230028913f5d29b30d048de602e557bb462d636"/>
  <p:tag name="KSO_WM_NEWLAYOUT_GROUP_ID" val="layout_6"/>
  <p:tag name="KSO_WM_NEWLAYOUT_ID" val="slide_bbe7822a0ca79658"/>
  <p:tag name="KSO_WM_UNIT_PRESET_TEXT" val="单击此处添加标题"/>
</p:tagLst>
</file>

<file path=ppt/tags/tag2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2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_loading"/>
</p:tagLst>
</file>

<file path=ppt/tags/tag2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be7822a0ca79658"/>
</p:tagLst>
</file>

<file path=ppt/tags/tag2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1d3201f2110e5496356c41ea64edd37d2c569c"/>
  <p:tag name="KSO_WM_NEWLAYOUT_GROUP_ID" val="layout_10013"/>
  <p:tag name="KSO_WM_NEWLAYOUT_ID" val="slide_ae0306d391427932"/>
  <p:tag name="KSO_WM_UNIT_PRESET_TEXT" val="单击此处添加标题"/>
</p:tagLst>
</file>

<file path=ppt/tags/tag2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0/8f2c5596-005e-4d20-b2e1-037c32ce4a77.jpg?Expires=1792657521\u0026AWSAccessKeyId=AKLT9NSy7kh8TIS1UzNqLRY2\u0026Signature=jDcBwt6QjvYrsdwTy36MGyozl7Y%3D&quot;,&quot;product_name&quot;:&quot;kdocs-wpp-wpspc&quot;,&quot;intention_code&quot;:&quot;kdocs_wpp_generate_slide_input_content&quot;}*auto_qingqiu_ai_v2.1.6_ONLINE*6664346666313364663965663334633331376530633034643633653730626534-slide-0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4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ae0306d391427932"/>
</p:tagLst>
</file>

<file path=ppt/tags/tag2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fd1c1afef6ac1c89462f4f116e10e6b23dc14"/>
  <p:tag name="KSO_WM_NEWLAYOUT_GROUP_ID" val="layout_49"/>
  <p:tag name="KSO_WM_NEWLAYOUT_ID" val="slide_10d35a04bcb4fa26"/>
  <p:tag name="KSO_WM_UNIT_PRESET_TEXT" val="单击此处添加标题"/>
</p:tagLst>
</file>

<file path=ppt/tags/tag24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4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5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5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10d35a04bcb4fa26"/>
</p:tagLst>
</file>

<file path=ppt/tags/tag257.xml><?xml version="1.0" encoding="utf-8"?>
<p:tagLst xmlns:p="http://schemas.openxmlformats.org/presentationml/2006/main">
  <p:tag name="KSO_WM_BEAUTIFY_FLAG" val="#wm#"/>
  <p:tag name="KSO_WM_UNIT_TYPE" val="a"/>
  <p:tag name="KSO_WM_UNIT_INDEX" val="1"/>
</p:tagLst>
</file>

<file path=ppt/tags/tag258.xml><?xml version="1.0" encoding="utf-8"?>
<p:tagLst xmlns:p="http://schemas.openxmlformats.org/presentationml/2006/main">
  <p:tag name="KSO_WM_SLIDE_TYPE" val="endPage"/>
  <p:tag name="KSO_WM_BEAUTIFY_FLAG" val="#wm#"/>
  <p:tag name="KSO_WM_TEMPLATE_SUBCATEGORY" val="29"/>
  <p:tag name="KSO_WM_AI_TEMPLATE_TYPE" val="ai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191B1D"/>
      </a:dk2>
      <a:lt2>
        <a:srgbClr val="F2F3F4"/>
      </a:lt2>
      <a:accent1>
        <a:srgbClr val="7E868F"/>
      </a:accent1>
      <a:accent2>
        <a:srgbClr val="4C5C66"/>
      </a:accent2>
      <a:accent3>
        <a:srgbClr val="7E868F"/>
      </a:accent3>
      <a:accent4>
        <a:srgbClr val="4C5C66"/>
      </a:accent4>
      <a:accent5>
        <a:srgbClr val="7E868F"/>
      </a:accent5>
      <a:accent6>
        <a:srgbClr val="4C5C66"/>
      </a:accent6>
      <a:hlink>
        <a:srgbClr val="0026E5"/>
      </a:hlink>
      <a:folHlink>
        <a:srgbClr val="7E1FAD"/>
      </a:folHlink>
    </a:clrScheme>
    <a:fontScheme name="">
      <a:majorFont>
        <a:latin typeface="汉仪正圆 55简"/>
        <a:ea typeface="汉仪正圆 55简"/>
        <a:cs typeface=""/>
      </a:majorFont>
      <a:minorFont>
        <a:latin typeface="汉仪正圆-45W"/>
        <a:ea typeface="汉仪正圆-45W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WPS 演示</Application>
  <PresentationFormat>宽屏</PresentationFormat>
  <Paragraphs>120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MiSans SemiBold</vt:lpstr>
      <vt:lpstr>Segoe Print</vt:lpstr>
      <vt:lpstr>华康雅艺体W6</vt:lpstr>
      <vt:lpstr>汉仪正圆 55简</vt:lpstr>
      <vt:lpstr>汉仪正圆-45W</vt:lpstr>
      <vt:lpstr>Arial Unicode MS</vt:lpstr>
      <vt:lpstr>Calibri</vt:lpstr>
      <vt:lpstr>Office 主题</vt:lpstr>
      <vt:lpstr>WPS</vt:lpstr>
      <vt:lpstr>天猫超市介绍</vt:lpstr>
      <vt:lpstr>天猫超市合作模式解析</vt:lpstr>
      <vt:lpstr>极致便捷的物流与配送体验（核心王牌）</vt:lpstr>
      <vt:lpstr>背靠阿里生态的庞大流量与入口</vt:lpstr>
      <vt:lpstr>商品品类的精选与质量保证</vt:lpstr>
      <vt:lpstr>天猫超市入驻优势</vt:lpstr>
      <vt:lpstr>商家与平台协作机制</vt:lpstr>
      <vt:lpstr>合作案例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天猫超市介绍</dc:title>
  <dc:creator/>
  <cp:lastModifiedBy>AAA      京商   秦新锁</cp:lastModifiedBy>
  <cp:revision>1</cp:revision>
  <dcterms:created xsi:type="dcterms:W3CDTF">2025-10-22T09:02:18Z</dcterms:created>
  <dcterms:modified xsi:type="dcterms:W3CDTF">2025-10-22T09:02:18Z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2052-12.1.0.22215</vt:lpwstr>
  </property>
  <property fmtid="{D5CDD505-2E9C-101B-9397-08002B2CF9AE}" pid="3" name="ICV">
    <vt:lpwstr>B75C98F4C40948689CB49D1002CA5FAC</vt:lpwstr>
  </property>
</Properties>
</file>